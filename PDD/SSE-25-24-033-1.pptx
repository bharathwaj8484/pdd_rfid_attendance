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16459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hQcue5oz8Scs7vhDsG3rls+Ner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585F30-87E7-465C-949C-BDE6FA63D695}">
  <a:tblStyle styleId="{46585F30-87E7-465C-949C-BDE6FA63D6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234441" y="5387365"/>
            <a:ext cx="13990320" cy="11460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10"/>
              <a:buFont typeface="Calibri"/>
              <a:buNone/>
              <a:defRPr sz="108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2057400" y="17289780"/>
            <a:ext cx="12344400" cy="7947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sz="4323"/>
            </a:lvl1pPr>
            <a:lvl2pPr lvl="1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None/>
              <a:defRPr sz="3602"/>
            </a:lvl2pPr>
            <a:lvl3pPr lvl="2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None/>
              <a:defRPr sz="3241"/>
            </a:lvl3pPr>
            <a:lvl4pPr lvl="3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4pPr>
            <a:lvl5pPr lvl="4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5pPr>
            <a:lvl6pPr lvl="5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6pPr>
            <a:lvl7pPr lvl="6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7pPr>
            <a:lvl8pPr lvl="7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8pPr>
            <a:lvl9pPr lvl="8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122998" y="8206752"/>
            <a:ext cx="14196060" cy="13693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10"/>
              <a:buFont typeface="Calibri"/>
              <a:buNone/>
              <a:defRPr sz="108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122998" y="22029429"/>
            <a:ext cx="14196060" cy="7200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sz="4323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3602"/>
              <a:buNone/>
              <a:defRPr sz="3602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3241"/>
              <a:buNone/>
              <a:defRPr sz="324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131570" y="8763025"/>
            <a:ext cx="6995160" cy="20886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8332470" y="8763025"/>
            <a:ext cx="6995160" cy="20886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133714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133716" y="8069588"/>
            <a:ext cx="6963012" cy="3954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b="1" sz="4323"/>
            </a:lvl1pPr>
            <a:lvl2pPr indent="-2286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None/>
              <a:defRPr b="1" sz="3602"/>
            </a:lvl2pPr>
            <a:lvl3pPr indent="-2286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None/>
              <a:defRPr b="1" sz="3241"/>
            </a:lvl3pPr>
            <a:lvl4pPr indent="-2286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4pPr>
            <a:lvl5pPr indent="-2286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5pPr>
            <a:lvl6pPr indent="-2286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6pPr>
            <a:lvl7pPr indent="-2286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7pPr>
            <a:lvl8pPr indent="-2286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8pPr>
            <a:lvl9pPr indent="-2286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133716" y="12024360"/>
            <a:ext cx="6963012" cy="17686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8332471" y="8069588"/>
            <a:ext cx="6997304" cy="3954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b="1" sz="4323"/>
            </a:lvl1pPr>
            <a:lvl2pPr indent="-2286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None/>
              <a:defRPr b="1" sz="3602"/>
            </a:lvl2pPr>
            <a:lvl3pPr indent="-2286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None/>
              <a:defRPr b="1" sz="3241"/>
            </a:lvl3pPr>
            <a:lvl4pPr indent="-2286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4pPr>
            <a:lvl5pPr indent="-2286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5pPr>
            <a:lvl6pPr indent="-2286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6pPr>
            <a:lvl7pPr indent="-2286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7pPr>
            <a:lvl8pPr indent="-2286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8pPr>
            <a:lvl9pPr indent="-2286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8332471" y="12024360"/>
            <a:ext cx="6997304" cy="17686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133714" y="2194584"/>
            <a:ext cx="5308520" cy="7680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1"/>
              <a:buFont typeface="Calibri"/>
              <a:buNone/>
              <a:defRPr sz="57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997304" y="4739649"/>
            <a:ext cx="8332470" cy="23393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94423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5761"/>
              <a:buChar char="•"/>
              <a:defRPr sz="5761"/>
            </a:lvl1pPr>
            <a:lvl2pPr indent="-548576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5039"/>
              <a:buChar char="•"/>
              <a:defRPr sz="5039"/>
            </a:lvl2pPr>
            <a:lvl3pPr indent="-50311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4323"/>
              <a:buChar char="•"/>
              <a:defRPr sz="4323"/>
            </a:lvl3pPr>
            <a:lvl4pPr indent="-457327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4pPr>
            <a:lvl5pPr indent="-457326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5pPr>
            <a:lvl6pPr indent="-457326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6pPr>
            <a:lvl7pPr indent="-457326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7pPr>
            <a:lvl8pPr indent="-457326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8pPr>
            <a:lvl9pPr indent="-457327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133714" y="9875517"/>
            <a:ext cx="5308520" cy="18295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indent="-2286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2pPr>
            <a:lvl3pPr indent="-2286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159"/>
              <a:buNone/>
              <a:defRPr sz="2159"/>
            </a:lvl3pPr>
            <a:lvl4pPr indent="-2286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4pPr>
            <a:lvl5pPr indent="-2286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5pPr>
            <a:lvl6pPr indent="-2286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6pPr>
            <a:lvl7pPr indent="-2286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7pPr>
            <a:lvl8pPr indent="-2286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8pPr>
            <a:lvl9pPr indent="-2286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133714" y="2194584"/>
            <a:ext cx="5308520" cy="7680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1"/>
              <a:buFont typeface="Calibri"/>
              <a:buNone/>
              <a:defRPr sz="57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997304" y="4739649"/>
            <a:ext cx="8332470" cy="2339339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133714" y="9875517"/>
            <a:ext cx="5308520" cy="18295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indent="-2286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2pPr>
            <a:lvl3pPr indent="-2286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159"/>
              <a:buNone/>
              <a:defRPr sz="2159"/>
            </a:lvl3pPr>
            <a:lvl4pPr indent="-2286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4pPr>
            <a:lvl5pPr indent="-2286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5pPr>
            <a:lvl6pPr indent="-2286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6pPr>
            <a:lvl7pPr indent="-2286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7pPr>
            <a:lvl8pPr indent="-2286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8pPr>
            <a:lvl9pPr indent="-2286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-2213610" y="12108205"/>
            <a:ext cx="20886420" cy="14196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395289" y="13926526"/>
            <a:ext cx="27896824" cy="354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596183" y="10480381"/>
            <a:ext cx="27896824" cy="10441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Calibri"/>
              <a:buNone/>
              <a:defRPr b="0" i="0" sz="7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48576" lvl="0" marL="457200" marR="0" rtl="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5039"/>
              <a:buFont typeface="Arial"/>
              <a:buChar char="•"/>
              <a:defRPr b="0" i="0" sz="50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03110" lvl="1" marL="9144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4323"/>
              <a:buFont typeface="Arial"/>
              <a:buChar char="•"/>
              <a:defRPr b="0" i="0" sz="43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327" lvl="2" marL="13716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Font typeface="Arial"/>
              <a:buChar char="•"/>
              <a:defRPr b="0" i="0" sz="360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4403" lvl="3" marL="18288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b="0" i="0" sz="3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4403" lvl="4" marL="22860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b="0" i="0" sz="3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4403" lvl="5" marL="27432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b="0" i="0" sz="3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4403" lvl="6" marL="32004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b="0" i="0" sz="3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4403" lvl="7" marL="36576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b="0" i="0" sz="3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4403" lvl="8" marL="4114800" marR="0" rtl="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b="0" i="0" sz="32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5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" y="1"/>
            <a:ext cx="16459202" cy="2625014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743" y="86958"/>
            <a:ext cx="15952717" cy="247807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2" y="10075227"/>
            <a:ext cx="16459203" cy="5937587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-2" y="16012815"/>
            <a:ext cx="16459203" cy="623701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2" y="22179494"/>
            <a:ext cx="16459203" cy="5378472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2" y="27557964"/>
            <a:ext cx="16459203" cy="5360434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2" y="2598570"/>
            <a:ext cx="16459203" cy="142471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74075" y="16116341"/>
            <a:ext cx="1879890" cy="5540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sz="279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75319" y="22351662"/>
            <a:ext cx="5908962" cy="5540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AND CONCLUSION</a:t>
            </a:r>
            <a:endParaRPr b="1" sz="279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30021" y="27817715"/>
            <a:ext cx="3022889" cy="5540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b="1" sz="279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74075" y="2592023"/>
            <a:ext cx="15505042" cy="1200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2"/>
              <a:buFont typeface="Times New Roman"/>
              <a:buNone/>
            </a:pPr>
            <a:r>
              <a:rPr b="1" lang="en-US" sz="360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RFID/NFC Based Attendance System with Cloud Integration: A Scalable and Cost-Effective Approach for Educational Institutions.</a:t>
            </a:r>
            <a:endParaRPr b="1" sz="3602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87047" y="10131544"/>
            <a:ext cx="5185062" cy="5540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b="1" sz="279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38606" y="17425771"/>
            <a:ext cx="9249450" cy="400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5979" lvl="0" marL="34304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1"/>
              <a:buFont typeface="Noto Sans Symbols"/>
              <a:buNone/>
            </a:pPr>
            <a:r>
              <a:t/>
            </a:r>
            <a:endParaRPr b="1" sz="200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68817" y="23046950"/>
            <a:ext cx="15416133" cy="432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Discussion: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Efficiency: Teachers save valuable class time—no manual roll-calls or waiting for scanners.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Reliability: NFC tags and cloud integration eliminate human error and data loss.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Affordability: Low-cost tags and open-source hardware cut initial and ongoing expenses.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Ease of Management: A single Google Sheet replaces bulky paperwork and complex databases.</a:t>
            </a:r>
            <a:endParaRPr/>
          </a:p>
          <a:p>
            <a:pPr indent="-2984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cloud-connected RFID/NFC attendance system offers a practical, scalable, and budget-friendly solution for schools. It streamlines attendance tracking, delivers real-time data to administrators, and significantly reduces both administrative workload and costs. This makes it an ideal choice for government and resource-constrained educational environments.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67242" y="28458906"/>
            <a:ext cx="16016218" cy="4719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K. Doe and A. L. Smith, “Design and Implementation of an RFID-Based Attendance System for Educational Institutions,” in Proc. IEEE Int. Conf. on Smart Education, 2018, pp. 123–127.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Zhang and P. R. Gupta, “NFC Technology in Attendance Management: A Case Study in Government Schools,” IEEE Trans. Ind. Informant., vol. 15, no. 4, pp. 2164–2171, Aug. 2019.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Patel and R. Singh, “Low-Cost IoT Solutions for Attendance Management in Resource-Constrained Environments,” in Proc. IEEE Int. Conf. on Emerging Technologies, 2020, pp. 234–238.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F. Hernandez and G. Martinez, “Google Sheets as a Cloud Platform for Real-Time Data Logging in IoT Systems,” IEEE Internet Things J., vol. 8, no. 5, pp. 3323–3330, Oct. 2021.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H. W. Choi, “Integrating Cloud Services with RFID/NFC Technologies: Challenges and Solutions,” IEEE Trans. Cloud Compute., vol. 9, no. 1, pp. 75–83, Jan. 2021.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32396" y="10717138"/>
            <a:ext cx="70413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Components: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PN532 RFID/NFC Reader: Reads student tags quickly and reliably.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ESP8266: Processes tag IDs and handles Wi-Fi communication.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NFC Tags: Low-cost cards assigned to each student.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Cloud Setup: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IDE: Code for NFC reading and Wi-Fi routines</a:t>
            </a:r>
            <a:endParaRPr/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Sheets API: Secure endpoint for real-time data storage.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9762574" y="1399567"/>
            <a:ext cx="6420886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No: </a:t>
            </a:r>
            <a:r>
              <a:rPr i="0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192124033</a:t>
            </a:r>
            <a:endParaRPr b="1"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Name: Bharathwaj K 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</a:t>
            </a:r>
            <a:r>
              <a:rPr i="0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S.Kalaiarasi</a:t>
            </a:r>
            <a:endParaRPr b="1"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899" y="3799540"/>
            <a:ext cx="16459200" cy="627570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44118" y="4584798"/>
            <a:ext cx="16227792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government schools still use paper registers or expensive fingerprint scanners. These methods are slow, prone to mistakes, and often break down, leading to inaccurate records.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Solution: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clear need for a system that is both affordable and reliable, reduces teacher workload, and delivers accurate attendance instantly.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Solution: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cloud-connected RFID/NFC attendance system that employs a PN532 reader and a Node-MCU ESP8266. Students tap inexpensive NFC tags, and attendance is captured automatically.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Result: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tests, our system records each tap in under 2 seconds, pushes data to the cloud with almost zero delay, and cuts overall costs by around 30 % compared to fingerprint devices.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32408" y="3952402"/>
            <a:ext cx="3261014" cy="474139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79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" name="Google Shape;105;p1"/>
          <p:cNvGraphicFramePr/>
          <p:nvPr/>
        </p:nvGraphicFramePr>
        <p:xfrm>
          <a:off x="167242" y="1674090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{46585F30-87E7-465C-949C-BDE6FA63D695}</a:tableStyleId>
              </a:tblPr>
              <a:tblGrid>
                <a:gridCol w="1621575"/>
                <a:gridCol w="2216475"/>
                <a:gridCol w="2305925"/>
                <a:gridCol w="2439075"/>
              </a:tblGrid>
              <a:tr h="80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Register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Biometric System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RFID/NFC Cloud System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97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hardware cost but high labour expenses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setup and maintenance costs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low hardware + free cloud storage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73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 (per student)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10–20 s (manual entry)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2–5 s (scanning)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1–2 s (tap &amp; cloud update)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97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Error-prone (missing entries)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Generally accurate but sensor glitches can occur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Automated read, near-zero error rate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83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Minutes to hours (data entry delays)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5–10 s (processing overhead)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1-2 s (real-time cloud sync)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01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suitable for storage efficient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Increased hardware cost per location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Easily add readers and tags, no extra infrastructure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6433" y="17267514"/>
            <a:ext cx="7465525" cy="37327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07" name="Google Shape;107;p1" title="Presentation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6125" y="10464750"/>
            <a:ext cx="8895824" cy="52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2023-04-19T08:35:46Z</dcterms:created>
  <dc:creator>Ganesh Moorthy</dc:creator>
</cp:coreProperties>
</file>